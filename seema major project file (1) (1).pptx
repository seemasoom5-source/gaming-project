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34944" autoAdjust="0"/>
  </p:normalViewPr>
  <p:slideViewPr>
    <p:cSldViewPr snapToGrid="0" snapToObjects="1">
      <p:cViewPr varScale="1">
        <p:scale>
          <a:sx n="33" d="100"/>
          <a:sy n="33" d="100"/>
        </p:scale>
        <p:origin x="2610" y="42"/>
      </p:cViewPr>
      <p:guideLst/>
    </p:cSldViewPr>
  </p:slideViewPr>
  <p:notesTextViewPr>
    <p:cViewPr>
      <p:scale>
        <a:sx n="1" d="1"/>
        <a:sy n="1" d="1"/>
      </p:scale>
      <p:origin x="0" y="-1667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06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IPython.display</a:t>
            </a:r>
            <a:r>
              <a:rPr lang="en-US" dirty="0"/>
              <a:t> import HTML</a:t>
            </a:r>
          </a:p>
          <a:p>
            <a:r>
              <a:rPr lang="en-US" dirty="0"/>
              <a:t>HTML('''</a:t>
            </a:r>
          </a:p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  &lt;title&gt;Brain Game&lt;/title&gt;</a:t>
            </a:r>
          </a:p>
          <a:p>
            <a:r>
              <a:rPr lang="en-US" dirty="0"/>
              <a:t>  &lt;style&gt;</a:t>
            </a:r>
          </a:p>
          <a:p>
            <a:r>
              <a:rPr lang="en-US" dirty="0"/>
              <a:t>    body { font-family: Arial; text-align: center; }</a:t>
            </a:r>
          </a:p>
          <a:p>
            <a:endParaRPr lang="en-US" dirty="0"/>
          </a:p>
          <a:p>
            <a:r>
              <a:rPr lang="en-US" dirty="0"/>
              <a:t>    .screen { display: none; }</a:t>
            </a:r>
          </a:p>
          <a:p>
            <a:r>
              <a:rPr lang="en-US" dirty="0"/>
              <a:t>    .active { display: block; }</a:t>
            </a:r>
          </a:p>
          <a:p>
            <a:endParaRPr lang="en-US" dirty="0"/>
          </a:p>
          <a:p>
            <a:r>
              <a:rPr lang="en-US" dirty="0"/>
              <a:t>    .grid {</a:t>
            </a:r>
          </a:p>
          <a:p>
            <a:r>
              <a:rPr lang="en-US" dirty="0"/>
              <a:t>      display: grid;</a:t>
            </a:r>
          </a:p>
          <a:p>
            <a:r>
              <a:rPr lang="en-US" dirty="0"/>
              <a:t>      grid-template-columns: repeat(4, 80px);</a:t>
            </a:r>
          </a:p>
          <a:p>
            <a:r>
              <a:rPr lang="en-US" dirty="0"/>
              <a:t>      gap: 10px;</a:t>
            </a:r>
          </a:p>
          <a:p>
            <a:r>
              <a:rPr lang="en-US" dirty="0"/>
              <a:t>      justify-content: center;</a:t>
            </a:r>
          </a:p>
          <a:p>
            <a:r>
              <a:rPr lang="en-US" dirty="0"/>
              <a:t>      margin-top: 20px;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.card {</a:t>
            </a:r>
          </a:p>
          <a:p>
            <a:r>
              <a:rPr lang="en-US" dirty="0"/>
              <a:t>      width: 80px;</a:t>
            </a:r>
          </a:p>
          <a:p>
            <a:r>
              <a:rPr lang="en-US" dirty="0"/>
              <a:t>      height: 80px;</a:t>
            </a:r>
          </a:p>
          <a:p>
            <a:r>
              <a:rPr lang="en-US" dirty="0"/>
              <a:t>      background: </a:t>
            </a:r>
            <a:r>
              <a:rPr lang="en-US" dirty="0" err="1"/>
              <a:t>lightgray</a:t>
            </a:r>
            <a:r>
              <a:rPr lang="en-US" dirty="0"/>
              <a:t>;</a:t>
            </a:r>
          </a:p>
          <a:p>
            <a:r>
              <a:rPr lang="en-US" dirty="0"/>
              <a:t>      font-size: 30px;</a:t>
            </a:r>
          </a:p>
          <a:p>
            <a:r>
              <a:rPr lang="en-US" dirty="0"/>
              <a:t>      display: flex;</a:t>
            </a:r>
          </a:p>
          <a:p>
            <a:r>
              <a:rPr lang="en-US" dirty="0"/>
              <a:t>      align-items: center;</a:t>
            </a:r>
          </a:p>
          <a:p>
            <a:r>
              <a:rPr lang="en-US" dirty="0"/>
              <a:t>      justify-content: center;</a:t>
            </a:r>
          </a:p>
          <a:p>
            <a:r>
              <a:rPr lang="en-US" dirty="0"/>
              <a:t>      cursor: pointer;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button { margin: 10px; padding: 10px; }</a:t>
            </a:r>
          </a:p>
          <a:p>
            <a:r>
              <a:rPr lang="en-US" dirty="0"/>
              <a:t>  &lt;/style&gt;</a:t>
            </a:r>
          </a:p>
          <a:p>
            <a:r>
              <a:rPr lang="en-US" dirty="0"/>
              <a:t>&lt;/head&gt;</a:t>
            </a:r>
          </a:p>
          <a:p>
            <a:endParaRPr lang="en-US" dirty="0"/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r>
              <a:rPr lang="en-US" dirty="0"/>
              <a:t>&lt;!-- HUB --&gt;</a:t>
            </a:r>
          </a:p>
          <a:p>
            <a:r>
              <a:rPr lang="en-US" dirty="0"/>
              <a:t>&lt;div id="hub" class="screen active"&gt;</a:t>
            </a:r>
          </a:p>
          <a:p>
            <a:r>
              <a:rPr lang="en-US" dirty="0"/>
              <a:t>  &lt;h2&gt;Brain Game&lt;/h2&gt;</a:t>
            </a:r>
          </a:p>
          <a:p>
            <a:r>
              <a:rPr lang="en-US" dirty="0"/>
              <a:t>  &lt;button onclick="</a:t>
            </a:r>
            <a:r>
              <a:rPr lang="en-US" dirty="0" err="1"/>
              <a:t>startGame</a:t>
            </a:r>
            <a:r>
              <a:rPr lang="en-US" dirty="0"/>
              <a:t>('memory')"&gt;Memory&lt;/button&gt;</a:t>
            </a:r>
          </a:p>
          <a:p>
            <a:r>
              <a:rPr lang="en-US" dirty="0"/>
              <a:t>  &lt;button onclick="</a:t>
            </a:r>
            <a:r>
              <a:rPr lang="en-US" dirty="0" err="1"/>
              <a:t>startGame</a:t>
            </a:r>
            <a:r>
              <a:rPr lang="en-US" dirty="0"/>
              <a:t>('pattern')"&gt;Pattern&lt;/button&gt;</a:t>
            </a:r>
          </a:p>
          <a:p>
            <a:r>
              <a:rPr lang="en-US" dirty="0"/>
              <a:t>&lt;/div&gt;</a:t>
            </a:r>
          </a:p>
          <a:p>
            <a:endParaRPr lang="en-US" dirty="0"/>
          </a:p>
          <a:p>
            <a:r>
              <a:rPr lang="en-US" dirty="0"/>
              <a:t>&lt;!-- MEMORY --&gt;</a:t>
            </a:r>
          </a:p>
          <a:p>
            <a:r>
              <a:rPr lang="en-US" dirty="0"/>
              <a:t>&lt;div id="memory" class="screen"&gt;</a:t>
            </a:r>
          </a:p>
          <a:p>
            <a:r>
              <a:rPr lang="en-US" dirty="0"/>
              <a:t>  &lt;h3&gt;Memory Game&lt;/h3&gt;</a:t>
            </a:r>
          </a:p>
          <a:p>
            <a:r>
              <a:rPr lang="en-US" dirty="0"/>
              <a:t>  &lt;p&gt;Moves: &lt;span id="moves"&gt;0&lt;/span&gt;&lt;/p&gt;</a:t>
            </a:r>
          </a:p>
          <a:p>
            <a:r>
              <a:rPr lang="en-US" dirty="0"/>
              <a:t>  &lt;div id="grid" class="grid"&gt;&lt;/div&gt;</a:t>
            </a:r>
          </a:p>
          <a:p>
            <a:r>
              <a:rPr lang="en-US" dirty="0"/>
              <a:t>  &lt;button onclick="</a:t>
            </a:r>
            <a:r>
              <a:rPr lang="en-US" dirty="0" err="1"/>
              <a:t>goHub</a:t>
            </a:r>
            <a:r>
              <a:rPr lang="en-US" dirty="0"/>
              <a:t>()"&gt;Back&lt;/button&gt;</a:t>
            </a:r>
          </a:p>
          <a:p>
            <a:r>
              <a:rPr lang="en-US" dirty="0"/>
              <a:t>&lt;/div&gt;</a:t>
            </a:r>
          </a:p>
          <a:p>
            <a:endParaRPr lang="en-US" dirty="0"/>
          </a:p>
          <a:p>
            <a:r>
              <a:rPr lang="en-US" dirty="0"/>
              <a:t>&lt;!-- PATTERN --&gt;</a:t>
            </a:r>
          </a:p>
          <a:p>
            <a:r>
              <a:rPr lang="en-US" dirty="0"/>
              <a:t>&lt;div id="pattern" class="screen"&gt;</a:t>
            </a:r>
          </a:p>
          <a:p>
            <a:r>
              <a:rPr lang="en-US" dirty="0"/>
              <a:t>  &lt;h3&gt;Pattern Game&lt;/h3&gt;</a:t>
            </a:r>
          </a:p>
          <a:p>
            <a:r>
              <a:rPr lang="en-US" dirty="0"/>
              <a:t>  &lt;p id="question"&gt;&lt;/p&gt;</a:t>
            </a:r>
          </a:p>
          <a:p>
            <a:r>
              <a:rPr lang="en-US" dirty="0"/>
              <a:t>  &lt;div id="choices"&gt;&lt;/div&gt;</a:t>
            </a:r>
          </a:p>
          <a:p>
            <a:r>
              <a:rPr lang="en-US" dirty="0"/>
              <a:t>  &lt;p id="result"&gt;&lt;/p&gt;</a:t>
            </a:r>
          </a:p>
          <a:p>
            <a:r>
              <a:rPr lang="en-US" dirty="0"/>
              <a:t>  &lt;button onclick="</a:t>
            </a:r>
            <a:r>
              <a:rPr lang="en-US" dirty="0" err="1"/>
              <a:t>nextPattern</a:t>
            </a:r>
            <a:r>
              <a:rPr lang="en-US" dirty="0"/>
              <a:t>()"&gt;Next&lt;/button&gt;</a:t>
            </a:r>
          </a:p>
          <a:p>
            <a:r>
              <a:rPr lang="en-US" dirty="0"/>
              <a:t>  &lt;button onclick="</a:t>
            </a:r>
            <a:r>
              <a:rPr lang="en-US" dirty="0" err="1"/>
              <a:t>goHub</a:t>
            </a:r>
            <a:r>
              <a:rPr lang="en-US" dirty="0"/>
              <a:t>()"&gt;Back&lt;/button&gt;</a:t>
            </a:r>
          </a:p>
          <a:p>
            <a:r>
              <a:rPr lang="en-US" dirty="0"/>
              <a:t>&lt;/div&gt;</a:t>
            </a:r>
          </a:p>
          <a:p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function </a:t>
            </a:r>
            <a:r>
              <a:rPr lang="en-US" dirty="0" err="1"/>
              <a:t>showScreen</a:t>
            </a:r>
            <a:r>
              <a:rPr lang="en-US" dirty="0"/>
              <a:t>(id) {</a:t>
            </a:r>
          </a:p>
          <a:p>
            <a:r>
              <a:rPr lang="en-US" dirty="0"/>
              <a:t>  </a:t>
            </a:r>
            <a:r>
              <a:rPr lang="en-US" dirty="0" err="1"/>
              <a:t>document.querySelectorAll</a:t>
            </a:r>
            <a:r>
              <a:rPr lang="en-US" dirty="0"/>
              <a:t>('.screen').</a:t>
            </a:r>
            <a:r>
              <a:rPr lang="en-US" dirty="0" err="1"/>
              <a:t>forEach</a:t>
            </a:r>
            <a:r>
              <a:rPr lang="en-US" dirty="0"/>
              <a:t>(s =&gt; </a:t>
            </a:r>
            <a:r>
              <a:rPr lang="en-US" dirty="0" err="1"/>
              <a:t>s.classList.remove</a:t>
            </a:r>
            <a:r>
              <a:rPr lang="en-US" dirty="0"/>
              <a:t>('active'));</a:t>
            </a:r>
          </a:p>
          <a:p>
            <a:r>
              <a:rPr lang="en-US" dirty="0"/>
              <a:t>  </a:t>
            </a:r>
            <a:r>
              <a:rPr lang="en-US" dirty="0" err="1"/>
              <a:t>document.getElementById</a:t>
            </a:r>
            <a:r>
              <a:rPr lang="en-US" dirty="0"/>
              <a:t>(id).</a:t>
            </a:r>
            <a:r>
              <a:rPr lang="en-US" dirty="0" err="1"/>
              <a:t>classList.add</a:t>
            </a:r>
            <a:r>
              <a:rPr lang="en-US" dirty="0"/>
              <a:t>('active');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goHub</a:t>
            </a:r>
            <a:r>
              <a:rPr lang="en-US" dirty="0"/>
              <a:t>() {</a:t>
            </a:r>
          </a:p>
          <a:p>
            <a:r>
              <a:rPr lang="en-US" dirty="0"/>
              <a:t>  </a:t>
            </a:r>
            <a:r>
              <a:rPr lang="en-US" dirty="0" err="1"/>
              <a:t>showScreen</a:t>
            </a:r>
            <a:r>
              <a:rPr lang="en-US" dirty="0"/>
              <a:t>('hub');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startGame</a:t>
            </a:r>
            <a:r>
              <a:rPr lang="en-US" dirty="0"/>
              <a:t>(type) {</a:t>
            </a:r>
          </a:p>
          <a:p>
            <a:r>
              <a:rPr lang="en-US" dirty="0"/>
              <a:t>  if (type === 'memory') </a:t>
            </a:r>
            <a:r>
              <a:rPr lang="en-US" dirty="0" err="1"/>
              <a:t>initMemory</a:t>
            </a:r>
            <a:r>
              <a:rPr lang="en-US" dirty="0"/>
              <a:t>();</a:t>
            </a:r>
          </a:p>
          <a:p>
            <a:r>
              <a:rPr lang="en-US" dirty="0"/>
              <a:t>  if (type === 'pattern') </a:t>
            </a:r>
            <a:r>
              <a:rPr lang="en-US" dirty="0" err="1"/>
              <a:t>initPattern</a:t>
            </a:r>
            <a:r>
              <a:rPr lang="en-US" dirty="0"/>
              <a:t>();</a:t>
            </a:r>
          </a:p>
          <a:p>
            <a:r>
              <a:rPr lang="en-US" dirty="0"/>
              <a:t>  </a:t>
            </a:r>
            <a:r>
              <a:rPr lang="en-US" dirty="0" err="1"/>
              <a:t>showScreen</a:t>
            </a:r>
            <a:r>
              <a:rPr lang="en-US" dirty="0"/>
              <a:t>(type);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/* ================= MEMORY ================= */</a:t>
            </a:r>
          </a:p>
          <a:p>
            <a:endParaRPr lang="en-US" dirty="0"/>
          </a:p>
          <a:p>
            <a:r>
              <a:rPr lang="en-US" dirty="0"/>
              <a:t>const emojis = ['🐶','🐱','🐸','🦊','🐼','🦁','🐯','🦄'];</a:t>
            </a:r>
          </a:p>
          <a:p>
            <a:r>
              <a:rPr lang="en-US" dirty="0"/>
              <a:t>let flipped = [];</a:t>
            </a:r>
          </a:p>
          <a:p>
            <a:r>
              <a:rPr lang="en-US" dirty="0"/>
              <a:t>let moves = 0;</a:t>
            </a:r>
          </a:p>
          <a:p>
            <a:r>
              <a:rPr lang="en-US" dirty="0"/>
              <a:t>let matched = 0;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initMemory</a:t>
            </a:r>
            <a:r>
              <a:rPr lang="en-US" dirty="0"/>
              <a:t>() {</a:t>
            </a:r>
          </a:p>
          <a:p>
            <a:r>
              <a:rPr lang="en-US" dirty="0"/>
              <a:t>  const grid = </a:t>
            </a:r>
            <a:r>
              <a:rPr lang="en-US" dirty="0" err="1"/>
              <a:t>document.getElementById</a:t>
            </a:r>
            <a:r>
              <a:rPr lang="en-US" dirty="0"/>
              <a:t>('grid');</a:t>
            </a:r>
          </a:p>
          <a:p>
            <a:r>
              <a:rPr lang="en-US" dirty="0"/>
              <a:t>  </a:t>
            </a:r>
            <a:r>
              <a:rPr lang="en-US" dirty="0" err="1"/>
              <a:t>grid.innerHTML</a:t>
            </a:r>
            <a:r>
              <a:rPr lang="en-US" dirty="0"/>
              <a:t> = '';</a:t>
            </a:r>
          </a:p>
          <a:p>
            <a:r>
              <a:rPr lang="en-US" dirty="0"/>
              <a:t>  moves = 0;</a:t>
            </a:r>
          </a:p>
          <a:p>
            <a:r>
              <a:rPr lang="en-US" dirty="0"/>
              <a:t>  matched = 0;</a:t>
            </a:r>
          </a:p>
          <a:p>
            <a:r>
              <a:rPr lang="en-US" dirty="0"/>
              <a:t>  </a:t>
            </a:r>
            <a:r>
              <a:rPr lang="en-US" dirty="0" err="1"/>
              <a:t>document.getElementById</a:t>
            </a:r>
            <a:r>
              <a:rPr lang="en-US" dirty="0"/>
              <a:t>('moves').</a:t>
            </a:r>
            <a:r>
              <a:rPr lang="en-US" dirty="0" err="1"/>
              <a:t>innerText</a:t>
            </a:r>
            <a:r>
              <a:rPr lang="en-US" dirty="0"/>
              <a:t> = 0;</a:t>
            </a:r>
          </a:p>
          <a:p>
            <a:endParaRPr lang="en-US" dirty="0"/>
          </a:p>
          <a:p>
            <a:r>
              <a:rPr lang="en-US" dirty="0"/>
              <a:t>  let cards = [...emojis, ...emojis];</a:t>
            </a:r>
          </a:p>
          <a:p>
            <a:r>
              <a:rPr lang="en-US" dirty="0"/>
              <a:t>  </a:t>
            </a:r>
            <a:r>
              <a:rPr lang="en-US" dirty="0" err="1"/>
              <a:t>cards.sort</a:t>
            </a:r>
            <a:r>
              <a:rPr lang="en-US" dirty="0"/>
              <a:t>(() =&gt; </a:t>
            </a:r>
            <a:r>
              <a:rPr lang="en-US" dirty="0" err="1"/>
              <a:t>Math.random</a:t>
            </a:r>
            <a:r>
              <a:rPr lang="en-US" dirty="0"/>
              <a:t>() - 0.5);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cards.forEach</a:t>
            </a:r>
            <a:r>
              <a:rPr lang="en-US" dirty="0"/>
              <a:t>(emoji =&gt; {</a:t>
            </a:r>
          </a:p>
          <a:p>
            <a:r>
              <a:rPr lang="en-US" dirty="0"/>
              <a:t>    const card = </a:t>
            </a:r>
            <a:r>
              <a:rPr lang="en-US" dirty="0" err="1"/>
              <a:t>document.createElement</a:t>
            </a:r>
            <a:r>
              <a:rPr lang="en-US" dirty="0"/>
              <a:t>('div');</a:t>
            </a:r>
          </a:p>
          <a:p>
            <a:r>
              <a:rPr lang="en-US" dirty="0"/>
              <a:t>    </a:t>
            </a:r>
            <a:r>
              <a:rPr lang="en-US" dirty="0" err="1"/>
              <a:t>card.className</a:t>
            </a:r>
            <a:r>
              <a:rPr lang="en-US" dirty="0"/>
              <a:t> = 'card';</a:t>
            </a:r>
          </a:p>
          <a:p>
            <a:r>
              <a:rPr lang="en-US" dirty="0"/>
              <a:t>    </a:t>
            </a:r>
            <a:r>
              <a:rPr lang="en-US" dirty="0" err="1"/>
              <a:t>card.innerText</a:t>
            </a:r>
            <a:r>
              <a:rPr lang="en-US" dirty="0"/>
              <a:t> = '?';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card.onclick</a:t>
            </a:r>
            <a:r>
              <a:rPr lang="en-US" dirty="0"/>
              <a:t> = () =&gt; </a:t>
            </a:r>
            <a:r>
              <a:rPr lang="en-US" dirty="0" err="1"/>
              <a:t>flipCard</a:t>
            </a:r>
            <a:r>
              <a:rPr lang="en-US" dirty="0"/>
              <a:t>(card, emoji);</a:t>
            </a:r>
          </a:p>
          <a:p>
            <a:r>
              <a:rPr lang="en-US" dirty="0"/>
              <a:t>    </a:t>
            </a:r>
            <a:r>
              <a:rPr lang="en-US" dirty="0" err="1"/>
              <a:t>grid.appendChild</a:t>
            </a:r>
            <a:r>
              <a:rPr lang="en-US" dirty="0"/>
              <a:t>(card);</a:t>
            </a:r>
          </a:p>
          <a:p>
            <a:r>
              <a:rPr lang="en-US" dirty="0"/>
              <a:t>  });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flipCard</a:t>
            </a:r>
            <a:r>
              <a:rPr lang="en-US" dirty="0"/>
              <a:t>(card, emoji) {</a:t>
            </a:r>
          </a:p>
          <a:p>
            <a:r>
              <a:rPr lang="en-US" dirty="0"/>
              <a:t>  if (</a:t>
            </a:r>
            <a:r>
              <a:rPr lang="en-US" dirty="0" err="1"/>
              <a:t>card.innerText</a:t>
            </a:r>
            <a:r>
              <a:rPr lang="en-US" dirty="0"/>
              <a:t> !== '?') return;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card.innerText</a:t>
            </a:r>
            <a:r>
              <a:rPr lang="en-US" dirty="0"/>
              <a:t> = emoji;</a:t>
            </a:r>
          </a:p>
          <a:p>
            <a:r>
              <a:rPr lang="en-US" dirty="0"/>
              <a:t>  </a:t>
            </a:r>
            <a:r>
              <a:rPr lang="en-US" dirty="0" err="1"/>
              <a:t>flipped.push</a:t>
            </a:r>
            <a:r>
              <a:rPr lang="en-US" dirty="0"/>
              <a:t>(card);</a:t>
            </a:r>
          </a:p>
          <a:p>
            <a:endParaRPr lang="en-US" dirty="0"/>
          </a:p>
          <a:p>
            <a:r>
              <a:rPr lang="en-US" dirty="0"/>
              <a:t>  if (</a:t>
            </a:r>
            <a:r>
              <a:rPr lang="en-US" dirty="0" err="1"/>
              <a:t>flipped.length</a:t>
            </a:r>
            <a:r>
              <a:rPr lang="en-US" dirty="0"/>
              <a:t> === 2) {</a:t>
            </a:r>
          </a:p>
          <a:p>
            <a:r>
              <a:rPr lang="en-US" dirty="0"/>
              <a:t>    moves++;</a:t>
            </a:r>
          </a:p>
          <a:p>
            <a:r>
              <a:rPr lang="en-US" dirty="0"/>
              <a:t>    </a:t>
            </a:r>
            <a:r>
              <a:rPr lang="en-US" dirty="0" err="1"/>
              <a:t>document.getElementById</a:t>
            </a:r>
            <a:r>
              <a:rPr lang="en-US" dirty="0"/>
              <a:t>('moves').</a:t>
            </a:r>
            <a:r>
              <a:rPr lang="en-US" dirty="0" err="1"/>
              <a:t>innerText</a:t>
            </a:r>
            <a:r>
              <a:rPr lang="en-US" dirty="0"/>
              <a:t> = moves;</a:t>
            </a:r>
          </a:p>
          <a:p>
            <a:endParaRPr lang="en-US" dirty="0"/>
          </a:p>
          <a:p>
            <a:r>
              <a:rPr lang="en-US" dirty="0"/>
              <a:t>    if (flipped[0].</a:t>
            </a:r>
            <a:r>
              <a:rPr lang="en-US" dirty="0" err="1"/>
              <a:t>innerText</a:t>
            </a:r>
            <a:r>
              <a:rPr lang="en-US" dirty="0"/>
              <a:t> === flipped[1].</a:t>
            </a:r>
            <a:r>
              <a:rPr lang="en-US" dirty="0" err="1"/>
              <a:t>innerText</a:t>
            </a:r>
            <a:r>
              <a:rPr lang="en-US" dirty="0"/>
              <a:t>) {</a:t>
            </a:r>
          </a:p>
          <a:p>
            <a:r>
              <a:rPr lang="en-US" dirty="0"/>
              <a:t>      matched++;</a:t>
            </a:r>
          </a:p>
          <a:p>
            <a:r>
              <a:rPr lang="en-US" dirty="0"/>
              <a:t>      flipped = [];</a:t>
            </a:r>
          </a:p>
          <a:p>
            <a:r>
              <a:rPr lang="en-US" dirty="0"/>
              <a:t>      if (matched === 8) alert("You win!");</a:t>
            </a:r>
          </a:p>
          <a:p>
            <a:r>
              <a:rPr lang="en-US" dirty="0"/>
              <a:t>    } else {</a:t>
            </a:r>
          </a:p>
          <a:p>
            <a:r>
              <a:rPr lang="en-US" dirty="0"/>
              <a:t>      </a:t>
            </a:r>
            <a:r>
              <a:rPr lang="en-US" dirty="0" err="1"/>
              <a:t>setTimeout</a:t>
            </a:r>
            <a:r>
              <a:rPr lang="en-US" dirty="0"/>
              <a:t>(() =&gt; {</a:t>
            </a:r>
          </a:p>
          <a:p>
            <a:r>
              <a:rPr lang="en-US" dirty="0"/>
              <a:t>        flipped[0].</a:t>
            </a:r>
            <a:r>
              <a:rPr lang="en-US" dirty="0" err="1"/>
              <a:t>innerText</a:t>
            </a:r>
            <a:r>
              <a:rPr lang="en-US" dirty="0"/>
              <a:t> = '?';</a:t>
            </a:r>
          </a:p>
          <a:p>
            <a:r>
              <a:rPr lang="en-US" dirty="0"/>
              <a:t>        flipped[1].</a:t>
            </a:r>
            <a:r>
              <a:rPr lang="en-US" dirty="0" err="1"/>
              <a:t>innerText</a:t>
            </a:r>
            <a:r>
              <a:rPr lang="en-US" dirty="0"/>
              <a:t> = '?';</a:t>
            </a:r>
          </a:p>
          <a:p>
            <a:r>
              <a:rPr lang="en-US" dirty="0"/>
              <a:t>        flipped = [];</a:t>
            </a:r>
          </a:p>
          <a:p>
            <a:r>
              <a:rPr lang="en-US" dirty="0"/>
              <a:t>      }, 700);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/* ================= PATTERN ================= */</a:t>
            </a:r>
          </a:p>
          <a:p>
            <a:endParaRPr lang="en-US" dirty="0"/>
          </a:p>
          <a:p>
            <a:r>
              <a:rPr lang="en-US" dirty="0"/>
              <a:t>const patterns = [</a:t>
            </a:r>
          </a:p>
          <a:p>
            <a:r>
              <a:rPr lang="en-US" dirty="0"/>
              <a:t>  { q: "2,4,6,8, ?", options: ["9","10","12"], </a:t>
            </a:r>
            <a:r>
              <a:rPr lang="en-US" dirty="0" err="1"/>
              <a:t>ans</a:t>
            </a:r>
            <a:r>
              <a:rPr lang="en-US" dirty="0"/>
              <a:t>: "10" },</a:t>
            </a:r>
          </a:p>
          <a:p>
            <a:r>
              <a:rPr lang="en-US" dirty="0"/>
              <a:t>  { q: "A,C,E, ?", options: ["F","G","I"], </a:t>
            </a:r>
            <a:r>
              <a:rPr lang="en-US" dirty="0" err="1"/>
              <a:t>ans</a:t>
            </a:r>
            <a:r>
              <a:rPr lang="en-US" dirty="0"/>
              <a:t>: "G" }</a:t>
            </a:r>
          </a:p>
          <a:p>
            <a:r>
              <a:rPr lang="en-US" dirty="0"/>
              <a:t>];</a:t>
            </a:r>
          </a:p>
          <a:p>
            <a:endParaRPr lang="en-US" dirty="0"/>
          </a:p>
          <a:p>
            <a:r>
              <a:rPr lang="en-US" dirty="0"/>
              <a:t>let current = 0;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initPattern</a:t>
            </a:r>
            <a:r>
              <a:rPr lang="en-US" dirty="0"/>
              <a:t>() {</a:t>
            </a:r>
          </a:p>
          <a:p>
            <a:r>
              <a:rPr lang="en-US" dirty="0"/>
              <a:t>  current = 0;</a:t>
            </a:r>
          </a:p>
          <a:p>
            <a:r>
              <a:rPr lang="en-US" dirty="0"/>
              <a:t>  </a:t>
            </a:r>
            <a:r>
              <a:rPr lang="en-US" dirty="0" err="1"/>
              <a:t>loadPattern</a:t>
            </a:r>
            <a:r>
              <a:rPr lang="en-US" dirty="0"/>
              <a:t>();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loadPattern</a:t>
            </a:r>
            <a:r>
              <a:rPr lang="en-US" dirty="0"/>
              <a:t>() {</a:t>
            </a:r>
          </a:p>
          <a:p>
            <a:r>
              <a:rPr lang="en-US" dirty="0"/>
              <a:t>  const p = patterns[current];</a:t>
            </a:r>
          </a:p>
          <a:p>
            <a:r>
              <a:rPr lang="en-US" dirty="0"/>
              <a:t>  </a:t>
            </a:r>
            <a:r>
              <a:rPr lang="en-US" dirty="0" err="1"/>
              <a:t>document.getElementById</a:t>
            </a:r>
            <a:r>
              <a:rPr lang="en-US" dirty="0"/>
              <a:t>('question').</a:t>
            </a:r>
            <a:r>
              <a:rPr lang="en-US" dirty="0" err="1"/>
              <a:t>innerText</a:t>
            </a:r>
            <a:r>
              <a:rPr lang="en-US" dirty="0"/>
              <a:t> = </a:t>
            </a:r>
            <a:r>
              <a:rPr lang="en-US" dirty="0" err="1"/>
              <a:t>p.q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const </a:t>
            </a:r>
            <a:r>
              <a:rPr lang="en-US" dirty="0" err="1"/>
              <a:t>choicesDiv</a:t>
            </a:r>
            <a:r>
              <a:rPr lang="en-US" dirty="0"/>
              <a:t> = </a:t>
            </a:r>
            <a:r>
              <a:rPr lang="en-US" dirty="0" err="1"/>
              <a:t>document.getElementById</a:t>
            </a:r>
            <a:r>
              <a:rPr lang="en-US" dirty="0"/>
              <a:t>('choices');</a:t>
            </a:r>
          </a:p>
          <a:p>
            <a:r>
              <a:rPr lang="en-US" dirty="0"/>
              <a:t>  </a:t>
            </a:r>
            <a:r>
              <a:rPr lang="en-US" dirty="0" err="1"/>
              <a:t>choicesDiv.innerHTML</a:t>
            </a:r>
            <a:r>
              <a:rPr lang="en-US" dirty="0"/>
              <a:t> = '';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p.options.forEach</a:t>
            </a:r>
            <a:r>
              <a:rPr lang="en-US" dirty="0"/>
              <a:t>(opt =&gt; {</a:t>
            </a:r>
          </a:p>
          <a:p>
            <a:r>
              <a:rPr lang="en-US" dirty="0"/>
              <a:t>    const </a:t>
            </a:r>
            <a:r>
              <a:rPr lang="en-US" dirty="0" err="1"/>
              <a:t>btn</a:t>
            </a:r>
            <a:r>
              <a:rPr lang="en-US" dirty="0"/>
              <a:t> = </a:t>
            </a:r>
            <a:r>
              <a:rPr lang="en-US" dirty="0" err="1"/>
              <a:t>document.createElement</a:t>
            </a:r>
            <a:r>
              <a:rPr lang="en-US" dirty="0"/>
              <a:t>('button');</a:t>
            </a:r>
          </a:p>
          <a:p>
            <a:r>
              <a:rPr lang="en-US" dirty="0"/>
              <a:t>    </a:t>
            </a:r>
            <a:r>
              <a:rPr lang="en-US" dirty="0" err="1"/>
              <a:t>btn.innerText</a:t>
            </a:r>
            <a:r>
              <a:rPr lang="en-US" dirty="0"/>
              <a:t> = opt;</a:t>
            </a:r>
          </a:p>
          <a:p>
            <a:r>
              <a:rPr lang="en-US" dirty="0"/>
              <a:t>    </a:t>
            </a:r>
            <a:r>
              <a:rPr lang="en-US" dirty="0" err="1"/>
              <a:t>btn.onclick</a:t>
            </a:r>
            <a:r>
              <a:rPr lang="en-US" dirty="0"/>
              <a:t> = () =&gt; </a:t>
            </a:r>
            <a:r>
              <a:rPr lang="en-US" dirty="0" err="1"/>
              <a:t>checkAnswer</a:t>
            </a:r>
            <a:r>
              <a:rPr lang="en-US" dirty="0"/>
              <a:t>(opt);</a:t>
            </a:r>
          </a:p>
          <a:p>
            <a:r>
              <a:rPr lang="en-US" dirty="0"/>
              <a:t>    </a:t>
            </a:r>
            <a:r>
              <a:rPr lang="en-US" dirty="0" err="1"/>
              <a:t>choicesDiv.appendChild</a:t>
            </a:r>
            <a:r>
              <a:rPr lang="en-US" dirty="0"/>
              <a:t>(</a:t>
            </a:r>
            <a:r>
              <a:rPr lang="en-US" dirty="0" err="1"/>
              <a:t>btn</a:t>
            </a:r>
            <a:r>
              <a:rPr lang="en-US" dirty="0"/>
              <a:t>);</a:t>
            </a:r>
          </a:p>
          <a:p>
            <a:r>
              <a:rPr lang="en-US" dirty="0"/>
              <a:t>  });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document.getElementById</a:t>
            </a:r>
            <a:r>
              <a:rPr lang="en-US" dirty="0"/>
              <a:t>('result').</a:t>
            </a:r>
            <a:r>
              <a:rPr lang="en-US" dirty="0" err="1"/>
              <a:t>innerText</a:t>
            </a:r>
            <a:r>
              <a:rPr lang="en-US" dirty="0"/>
              <a:t> = '';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checkAnswer</a:t>
            </a:r>
            <a:r>
              <a:rPr lang="en-US" dirty="0"/>
              <a:t>(choice) {</a:t>
            </a:r>
          </a:p>
          <a:p>
            <a:r>
              <a:rPr lang="en-US" dirty="0"/>
              <a:t>  const correct = patterns[current].</a:t>
            </a:r>
            <a:r>
              <a:rPr lang="en-US" dirty="0" err="1"/>
              <a:t>ans</a:t>
            </a:r>
            <a:r>
              <a:rPr lang="en-US" dirty="0"/>
              <a:t>;</a:t>
            </a:r>
          </a:p>
          <a:p>
            <a:r>
              <a:rPr lang="en-US" dirty="0"/>
              <a:t>  if (choice === correct) {</a:t>
            </a:r>
          </a:p>
          <a:p>
            <a:r>
              <a:rPr lang="en-US" dirty="0"/>
              <a:t>    </a:t>
            </a:r>
            <a:r>
              <a:rPr lang="en-US" dirty="0" err="1"/>
              <a:t>document.getElementById</a:t>
            </a:r>
            <a:r>
              <a:rPr lang="en-US" dirty="0"/>
              <a:t>('result').</a:t>
            </a:r>
            <a:r>
              <a:rPr lang="en-US" dirty="0" err="1"/>
              <a:t>innerText</a:t>
            </a:r>
            <a:r>
              <a:rPr lang="en-US" dirty="0"/>
              <a:t> = "Correct!";</a:t>
            </a:r>
          </a:p>
          <a:p>
            <a:r>
              <a:rPr lang="en-US" dirty="0"/>
              <a:t>  } else {</a:t>
            </a:r>
          </a:p>
          <a:p>
            <a:r>
              <a:rPr lang="en-US" dirty="0"/>
              <a:t>    </a:t>
            </a:r>
            <a:r>
              <a:rPr lang="en-US" dirty="0" err="1"/>
              <a:t>document.getElementById</a:t>
            </a:r>
            <a:r>
              <a:rPr lang="en-US" dirty="0"/>
              <a:t>('result').</a:t>
            </a:r>
            <a:r>
              <a:rPr lang="en-US" dirty="0" err="1"/>
              <a:t>innerText</a:t>
            </a:r>
            <a:r>
              <a:rPr lang="en-US" dirty="0"/>
              <a:t> = "Wrong!";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nextPattern</a:t>
            </a:r>
            <a:r>
              <a:rPr lang="en-US" dirty="0"/>
              <a:t>() {</a:t>
            </a:r>
          </a:p>
          <a:p>
            <a:r>
              <a:rPr lang="en-US" dirty="0"/>
              <a:t>  current++;</a:t>
            </a:r>
          </a:p>
          <a:p>
            <a:r>
              <a:rPr lang="en-US" dirty="0"/>
              <a:t>  if (current &gt;= </a:t>
            </a:r>
            <a:r>
              <a:rPr lang="en-US" dirty="0" err="1"/>
              <a:t>patterns.length</a:t>
            </a:r>
            <a:r>
              <a:rPr lang="en-US" dirty="0"/>
              <a:t>) {</a:t>
            </a:r>
          </a:p>
          <a:p>
            <a:r>
              <a:rPr lang="en-US" dirty="0"/>
              <a:t>    alert("Game Over");</a:t>
            </a:r>
          </a:p>
          <a:p>
            <a:r>
              <a:rPr lang="en-US" dirty="0"/>
              <a:t>    </a:t>
            </a:r>
            <a:r>
              <a:rPr lang="en-US" dirty="0" err="1"/>
              <a:t>goHub</a:t>
            </a:r>
            <a:r>
              <a:rPr lang="en-US" dirty="0"/>
              <a:t>();</a:t>
            </a:r>
          </a:p>
          <a:p>
            <a:r>
              <a:rPr lang="en-US" dirty="0"/>
              <a:t>  } else {</a:t>
            </a:r>
          </a:p>
          <a:p>
            <a:r>
              <a:rPr lang="en-US" dirty="0"/>
              <a:t>    </a:t>
            </a:r>
            <a:r>
              <a:rPr lang="en-US" dirty="0" err="1"/>
              <a:t>loadPattern</a:t>
            </a:r>
            <a:r>
              <a:rPr lang="en-US" dirty="0"/>
              <a:t>();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r>
              <a:rPr lang="en-US"/>
              <a:t>''')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534AB7">
              <a:alpha val="22000"/>
            </a:srgbClr>
          </a:solidFill>
          <a:ln w="12700">
            <a:solidFill>
              <a:srgbClr val="534AB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1645920" cy="16459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2743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🧠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BrainSpark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BEB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Learning Game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Product Presentation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4023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 Your Thinking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What We'll Cover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" cy="1051560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46304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BrainSpark is and why it matters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23160"/>
            <a:ext cx="411480" cy="1051560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69748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Modules Deep-Dive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9443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Match · Pattern Finder · Logic Quiz · Word Sprint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411480" cy="1051560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93192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Science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1788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benefits and research backing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188720"/>
            <a:ext cx="411480" cy="1051560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46304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1280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&amp; Design Language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17099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scoring, XP system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4231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423160"/>
            <a:ext cx="411480" cy="1051560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269748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514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29443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stack, state management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65760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657600"/>
            <a:ext cx="411480" cy="1051560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393192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3749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Impact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66360" y="41788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features and measurable outcomes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560320" cy="2560320"/>
          </a:xfrm>
          <a:prstGeom prst="ellipse">
            <a:avLst/>
          </a:prstGeom>
          <a:solidFill>
            <a:srgbClr val="534AB7">
              <a:alpha val="30000"/>
            </a:srgbClr>
          </a:solidFill>
          <a:ln w="12700">
            <a:solidFill>
              <a:srgbClr val="534AB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82880"/>
            <a:ext cx="1097280" cy="10972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Overview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EB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brain training into an engaging daily habit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What Is BrainSpark?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BrainSpark is a web-based cognitive learning game designed to strengthen four core mental skills through structured, bite-sized challenges.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proven cognitive science with modern game design to make brain training feel rewarding rather than tedious.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is short, purposeful, and immediately satisfying. Players earn XP points, stars, and track progress across all four mini-games from a central hub.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professionals, and anyone looking to sharpen their mental agility, focus, and reasoning — ages 10 and up.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BrainSpark By the Numbers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74520" cy="3200400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645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Mini-Games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1280160"/>
            <a:ext cx="1874520" cy="320040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645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560320" y="30175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 Game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1874520" cy="320040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645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17720" y="30175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System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1280160"/>
            <a:ext cx="1874520" cy="3200400"/>
          </a:xfrm>
          <a:prstGeom prst="rect">
            <a:avLst/>
          </a:prstGeom>
          <a:solidFill>
            <a:srgbClr val="B85042">
              <a:alpha val="80000"/>
            </a:srgbClr>
          </a:solidFill>
          <a:ln w="12700">
            <a:solidFill>
              <a:srgbClr val="B8504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645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675120" y="30175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Replayability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Randomisation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34AB7">
              <a:alpha val="12000"/>
            </a:srgbClr>
          </a:solidFill>
          <a:ln w="12700">
            <a:solidFill>
              <a:srgbClr val="534AB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534AB7">
              <a:alpha val="20000"/>
            </a:srgbClr>
          </a:solidFill>
          <a:ln w="12700">
            <a:solidFill>
              <a:srgbClr val="534AB7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0" y="640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🎮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Modules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Game Hub — Your Command Centre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365760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Match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and pair emoji cards. 16-card grid with move counter. Earn up to 3 stars based on efficiency.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20240" cy="3657600"/>
          </a:xfrm>
          <a:prstGeom prst="rect">
            <a:avLst/>
          </a:prstGeom>
          <a:solidFill>
            <a:srgbClr val="FAEEDA"/>
          </a:solidFill>
          <a:ln w="12700">
            <a:solidFill>
              <a:srgbClr val="534AB7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325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Finder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6517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next element in a logical sequence. Multiple choice format with instant feedback.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920240" cy="3657600"/>
          </a:xfrm>
          <a:prstGeom prst="rect">
            <a:avLst/>
          </a:prstGeom>
          <a:solidFill>
            <a:srgbClr val="E1F5EE"/>
          </a:solidFill>
          <a:ln w="12700">
            <a:solidFill>
              <a:srgbClr val="534AB7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Quiz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6517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lateral thinking and deductive reasoning questions. Two-option format, 5 rounds per session.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29400" y="1188720"/>
            <a:ext cx="1920240" cy="3657600"/>
          </a:xfrm>
          <a:prstGeom prst="rect">
            <a:avLst/>
          </a:prstGeom>
          <a:solidFill>
            <a:srgbClr val="FAECE7"/>
          </a:solidFill>
          <a:ln w="12700">
            <a:solidFill>
              <a:srgbClr val="534AB7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325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08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Sprint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6517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Unscramble jumbled words under time pressure. Tests spelling, vocabulary, and concentration.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C3489">
              <a:alpha val="12000"/>
            </a:srgbClr>
          </a:solidFill>
          <a:ln w="12700">
            <a:solidFill>
              <a:srgbClr val="3C3489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3C3489">
              <a:alpha val="20000"/>
            </a:srgbClr>
          </a:solidFill>
          <a:ln w="12700">
            <a:solidFill>
              <a:srgbClr val="3C348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0" y="640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🃏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Match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🃏 Memory Match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 Mechanics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× 4 grid of 16 face-down cards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unique emoji pairs shuffled randomly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any two cards to reveal them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Matching pairs stay face-up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Non-matching pairs flip back after a short delay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your move count throughout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&amp; Rewards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78308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  ≤ 12 moves (Perfect)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     ≤ 18 moves (Good)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     &gt; 18 moves (Complete)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earned scales with star rating.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is fully randomised for fresh challenge.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🃏 Memory Match — Cognitive Benefits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Memory: Holding multiple card locations in mind simultaneously trains visuospatial working memory — a key predictor of academic performance.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Detail: Accurate recall of emoji positions demands sustained, selective attention across the full 4×4 grid.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Speed: As players improve, they retrieve locations faster, directly improving neural processing efficiency.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Inhibitory Control: Resisting the urge to guess randomly and instead recalling methodically builds executive control.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Recognition: Over multiple rounds, players develop implicit strategies for grid coverage.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Link: Working memory training has been shown to transfer to improved fluid intelligence (Jaeggi et al., 2008).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33806">
              <a:alpha val="12000"/>
            </a:srgbClr>
          </a:solidFill>
          <a:ln w="12700">
            <a:solidFill>
              <a:srgbClr val="63380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633806">
              <a:alpha val="20000"/>
            </a:srgbClr>
          </a:solidFill>
          <a:ln w="12700">
            <a:solidFill>
              <a:srgbClr val="63380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0" y="640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🔢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Finder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Pattern Finder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38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 Mechanics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sequence of emojis is displayed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slot is hidden with a '?' marker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multiple-choice options appear below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the correct next element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rounds per session, score accumulates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Patterns shuffle every new game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38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Types Included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78308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Repeating cycles (A-B-A-B)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Growing sequences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🌗  Alternating size or category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Color and shape logic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Numeric progression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Nested / compound rules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Pattern Finder — Cognitive Benefits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Reasoning: Identifying rules from examples is the core of scientific and mathematical thinking.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Thinking: Emoji-based sequences decouple pattern logic from language, training pure relational reasoning.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Intelligence: Pattern completion tasks are the gold standard measure of g-factor intelligence.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Flexibility: Different pattern types each session prevent habit formation and force adaptive thinking.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Accuracy: Multiple-choice under implicit time pressure trains the balance between quick and correct decisions.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Link: Matrix reasoning tasks (like this) form the backbone of IQ assessments (Raven's Progressive Matrices).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5041">
              <a:alpha val="12000"/>
            </a:srgbClr>
          </a:solidFill>
          <a:ln w="12700">
            <a:solidFill>
              <a:srgbClr val="08504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85041">
              <a:alpha val="20000"/>
            </a:srgbClr>
          </a:solidFill>
          <a:ln w="12700">
            <a:solidFill>
              <a:srgbClr val="08504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0" y="640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🧩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Quiz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🧩 Logic Quiz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50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 Mechanics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deductive reasoning questions per round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question has exactly 2 answer options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correct/incorrect feedback shown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Running score tracked in the top bar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Questions drawn from randomised pool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XP awarded at session completion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50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Categories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78308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Lateral thinking puzzles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 True/False deduction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 Spatial reasoning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Causal logic (If→Then)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Number sense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Verbal reasoning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🧩 Logic Quiz — Cognitive Benefits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Deductive Reasoning: Binary-choice format forces explicit logical evaluation: 'Given X, must Y be true?'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Thinking: Players must distinguish what is stated from what is merely implied.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Under Uncertainty: Not all questions have obvious answers — players develop tolerance for ambiguity.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Metacognition: Instant feedback trains players to calibrate their own confidence and reasoning accuracy.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Processing: Language-based questions strengthen the link between linguistic comprehension and logical inference.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Link: Regular logic puzzle solving has been associated with reduced cognitive decline risk (Gow et al., 2012).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12B13">
              <a:alpha val="12000"/>
            </a:srgbClr>
          </a:solidFill>
          <a:ln w="12700">
            <a:solidFill>
              <a:srgbClr val="712B1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712B13">
              <a:alpha val="20000"/>
            </a:srgbClr>
          </a:solidFill>
          <a:ln w="12700">
            <a:solidFill>
              <a:srgbClr val="712B13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0" y="640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🔡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Sprint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12B13"/>
          </a:solidFill>
          <a:ln w="12700">
            <a:solidFill>
              <a:srgbClr val="712B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🔡 Word Sprint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12B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 Mechanics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scrambled word is presented each round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Player types the correct unscrambled word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via button or Enter key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rounds per session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answers earn XP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Hint: word length is visible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12B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Categories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78308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Academic vocabulary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Geography &amp; places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Science terms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Arts &amp; culture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Everyday language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Progressive difficulty tiers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12B13"/>
          </a:solidFill>
          <a:ln w="12700">
            <a:solidFill>
              <a:srgbClr val="712B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🔡 Word Sprint — Cognitive Benefits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Orthographic Processing: Unscrambling activates the brain's letter-position sensitivity, a core reading skill.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Retrieval: Players must rapidly activate stored word representations — the same process used in fluent reading.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 Load: Holding the scrambled letters in mind while mentally rearranging them is a dual-task challenge.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&amp; Focus: Text-input under pressure trains sustained attention without visual distraction.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Expansion: Repeated exposure to diverse word sets passively expands mental lexicons.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Link: Orthographic processing interventions improve reading speed and spelling accuracy (Ehri, 2014).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0" y="640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🔬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Learning Science</a:t>
            </a:r>
            <a:endParaRPr lang="en-US" sz="3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Why BrainSpark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3657600"/>
          </a:xfrm>
          <a:prstGeom prst="rect">
            <a:avLst/>
          </a:prstGeom>
          <a:solidFill>
            <a:srgbClr val="EEEDFE"/>
          </a:solidFill>
          <a:ln w="12700">
            <a:solidFill>
              <a:srgbClr val="7C3AED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Spaced Practice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repeated sessions outperform massed study. BrainSpark is designed for daily 5–10 min play.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20240" cy="3657600"/>
          </a:xfrm>
          <a:prstGeom prst="rect">
            <a:avLst/>
          </a:prstGeom>
          <a:solidFill>
            <a:srgbClr val="FAEEDA"/>
          </a:solidFill>
          <a:ln w="12700">
            <a:solidFill>
              <a:srgbClr val="7C3AED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325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Desirable Difficulty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6517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sequences ensure players are always in the 'learning zone' — not too easy, not too hard.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920240" cy="3657600"/>
          </a:xfrm>
          <a:prstGeom prst="rect">
            <a:avLst/>
          </a:prstGeom>
          <a:solidFill>
            <a:srgbClr val="E1F5EE"/>
          </a:solidFill>
          <a:ln w="12700">
            <a:solidFill>
              <a:srgbClr val="7C3AED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 Feedback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6517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correct/incorrect signals accelerate neural reinforcement of accurate patterns and strategies.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29400" y="1188720"/>
            <a:ext cx="1920240" cy="3657600"/>
          </a:xfrm>
          <a:prstGeom prst="rect">
            <a:avLst/>
          </a:prstGeom>
          <a:solidFill>
            <a:srgbClr val="FAECE7"/>
          </a:solidFill>
          <a:ln w="12700">
            <a:solidFill>
              <a:srgbClr val="7C3AED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325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08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 Load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6517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stars, and score history provide visible progress, activating the brain's reward and motivation circuits.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0" y="640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🎨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&amp; Design Language</a:t>
            </a:r>
            <a:endParaRPr lang="en-US" sz="3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Design System &amp; Visual Language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 Semantics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 Purple / Indigo — Memory (calm, focused)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Gold / Amber — Pattern (warm, curious)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Mint / Green — Logic (clear, confident)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Coral / Rose — Word (energetic, urgent)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game has its own colour identity, so players instantly know which cognitive domain they're in.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Typography &amp; Motion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78308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Font: Fredoka One (playful, bold)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Font: Nunito (rounded, readable)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Micro-interactions: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Cards scale on hover (transform)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Matched cards lock in green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answers flash red briefly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pills animate on update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Scoring &amp; XP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XP Counter: A global XP total accumulates across all four games, giving players a single 'level-up' metric to chase each day.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Per-Game Stars: Memory Match awards 1–3 stars based on move efficiency. Other games award stars based on correct-answer rate.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Pills: Each game session shows a live in-game score, separate from XP, so players have both micro (session) and macro (lifetime) goals.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Replay Value: Every session shuffles content — pairs, patterns, questions, and word lists — so XP gains require genuine performance rather than memorised answers.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Penalty for Mistakes: Wrong answers cost no XP, preserving psychological safety and encouraging experimentation.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Streak bonuses and daily challenge modes planned to further amplify engagement.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4155">
              <a:alpha val="12000"/>
            </a:srgbClr>
          </a:solidFill>
          <a:ln w="12700">
            <a:solidFill>
              <a:srgbClr val="33415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334155">
              <a:alpha val="20000"/>
            </a:srgbClr>
          </a:solidFill>
          <a:ln w="12700">
            <a:solidFill>
              <a:srgbClr val="33415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0" y="640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⚙️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</a:t>
            </a:r>
            <a:endParaRPr lang="en-US" sz="3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Technical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3657600"/>
          </a:xfrm>
          <a:prstGeom prst="rect">
            <a:avLst/>
          </a:prstGeom>
          <a:solidFill>
            <a:srgbClr val="EEEDFE"/>
          </a:solidFill>
          <a:ln w="12700">
            <a:solidFill>
              <a:srgbClr val="334155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Single-File HTML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application ships as one self-contained HTML file — zero build steps, instant load, works offline once cached.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20240" cy="3657600"/>
          </a:xfrm>
          <a:prstGeom prst="rect">
            <a:avLst/>
          </a:prstGeom>
          <a:solidFill>
            <a:srgbClr val="FAEEDA"/>
          </a:solidFill>
          <a:ln w="12700">
            <a:solidFill>
              <a:srgbClr val="334155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325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Vanilla CSS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6517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(variables) power the theme system. Responsive grid layouts, transitions, and micro-animations with no framework overhead.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920240" cy="3657600"/>
          </a:xfrm>
          <a:prstGeom prst="rect">
            <a:avLst/>
          </a:prstGeom>
          <a:solidFill>
            <a:srgbClr val="E1F5EE"/>
          </a:solidFill>
          <a:ln w="12700">
            <a:solidFill>
              <a:srgbClr val="334155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Vanilla JavaScript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6517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JS state machine manages screen routing, game logic, scoring, and XP persistence. No dependencies — sub-1s load time.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29400" y="1188720"/>
            <a:ext cx="1920240" cy="3657600"/>
          </a:xfrm>
          <a:prstGeom prst="rect">
            <a:avLst/>
          </a:prstGeom>
          <a:solidFill>
            <a:srgbClr val="FAECE7"/>
          </a:solidFill>
          <a:ln w="12700">
            <a:solidFill>
              <a:srgbClr val="334155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325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084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Fonts CDN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6517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Fredoka One and Nunito loaded via Google Fonts link for personality and readability, with system-font fallback.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State Management &amp;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 Router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startGame(type) function acts as the router, hiding all screens and showing only the active one via CSS class toggling.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eliminates page reloads and keeps the user session intact across all four games.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State Pattern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78308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game owns its own state variables (e.g. memMoves, patRound, logScore) that reset on game init.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(totalXP) persists across game switches, surviving hub navigation.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randomisation uses Fisher-Yates shuffle for statistically unbiased sequences.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0" y="640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🚀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Future Vision</a:t>
            </a:r>
            <a:endParaRPr lang="en-US" sz="3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Product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517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612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874520"/>
            <a:ext cx="2450592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Memory Match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Pattern Finder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Logic Quiz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Word Sprint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XP &amp; Stars System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43000"/>
            <a:ext cx="2651760" cy="5943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1612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2450592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Daily Streak Bonus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Leaderboard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Difficulty Levels (Easy/Hard)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Mobile PWA Install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Dark Mode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43000"/>
            <a:ext cx="265176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1612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1874520"/>
            <a:ext cx="2450592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User Accounts &amp; Profiles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Historical Progress Charts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New Game: Number Sprint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Classroom Mode (Teacher Dashboard)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Accessibility (WCAG 2.1 AA)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200400" cy="3200400"/>
          </a:xfrm>
          <a:prstGeom prst="ellipse">
            <a:avLst/>
          </a:prstGeom>
          <a:solidFill>
            <a:srgbClr val="7C3AED">
              <a:alpha val="24000"/>
            </a:srgbClr>
          </a:solidFill>
          <a:ln w="12700">
            <a:solidFill>
              <a:srgbClr val="7C3AED">
                <a:alpha val="2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560320" cy="2560320"/>
          </a:xfrm>
          <a:prstGeom prst="ellipse">
            <a:avLst/>
          </a:prstGeom>
          <a:solidFill>
            <a:srgbClr val="534AB7">
              <a:alpha val="22000"/>
            </a:srgbClr>
          </a:solidFill>
          <a:ln w="12700">
            <a:solidFill>
              <a:srgbClr val="534AB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365760"/>
            <a:ext cx="1371600" cy="1371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365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🧠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Level Up?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BEB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BrainSpark — where every session makes you sharper.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828800" cy="457200"/>
          </a:xfrm>
          <a:prstGeom prst="rect">
            <a:avLst/>
          </a:prstGeom>
          <a:solidFill>
            <a:srgbClr val="534AB7">
              <a:alpha val="7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Memory Match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200400"/>
            <a:ext cx="1828800" cy="457200"/>
          </a:xfrm>
          <a:prstGeom prst="rect">
            <a:avLst/>
          </a:prstGeom>
          <a:solidFill>
            <a:srgbClr val="534AB7">
              <a:alpha val="7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Pattern Finder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200400"/>
            <a:ext cx="1828800" cy="457200"/>
          </a:xfrm>
          <a:prstGeom prst="rect">
            <a:avLst/>
          </a:prstGeom>
          <a:solidFill>
            <a:srgbClr val="534AB7">
              <a:alpha val="7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Logic Quiz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3200400"/>
            <a:ext cx="1828800" cy="457200"/>
          </a:xfrm>
          <a:prstGeom prst="rect">
            <a:avLst/>
          </a:prstGeom>
          <a:solidFill>
            <a:srgbClr val="534AB7">
              <a:alpha val="7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🔡 Word Sprint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2796</Words>
  <Application>Microsoft Office PowerPoint</Application>
  <PresentationFormat>On-screen Show (16:9)</PresentationFormat>
  <Paragraphs>472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BrainSpark – Cognitive Learning Game</dc:title>
  <dc:subject>PptxGenJS Presentation</dc:subject>
  <dc:creator>BrainSpark Team</dc:creator>
  <cp:lastModifiedBy>NIELIT</cp:lastModifiedBy>
  <cp:revision>2</cp:revision>
  <dcterms:created xsi:type="dcterms:W3CDTF">2026-04-17T07:58:06Z</dcterms:created>
  <dcterms:modified xsi:type="dcterms:W3CDTF">2026-04-17T08:45:07Z</dcterms:modified>
</cp:coreProperties>
</file>